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966640adf4314" /><Relationship Type="http://schemas.openxmlformats.org/officeDocument/2006/relationships/extended-properties" Target="/docProps/app.xml" Id="R0e20bf19b069435e" /><Relationship Type="http://schemas.openxmlformats.org/officeDocument/2006/relationships/officeDocument" Target="/ppt/presentation.xml" Id="R0b55e9cc13da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43888f9124d7c"/>
  </p:sldMasterIdLst>
  <p:notesMasterIdLst>
    <p:notesMasterId xmlns:r="http://schemas.openxmlformats.org/officeDocument/2006/relationships" r:id="R6bab963a918a4716"/>
  </p:notesMasterIdLst>
  <p:sldIdLst>
    <p:sldId xmlns:r="http://schemas.openxmlformats.org/officeDocument/2006/relationships" id="256" r:id="Rcb5dee83c81c4c57"/>
    <p:sldId xmlns:r="http://schemas.openxmlformats.org/officeDocument/2006/relationships" id="257" r:id="R9e9e672d0cc84cef"/>
    <p:sldId xmlns:r="http://schemas.openxmlformats.org/officeDocument/2006/relationships" id="258" r:id="Rd14b9634bb7e48f7"/>
    <p:sldId xmlns:r="http://schemas.openxmlformats.org/officeDocument/2006/relationships" id="259" r:id="R124ae98286784dec"/>
    <p:sldId xmlns:r="http://schemas.openxmlformats.org/officeDocument/2006/relationships" id="260" r:id="R615f100bcb3d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35d674c9141a7" /><Relationship Type="http://schemas.openxmlformats.org/officeDocument/2006/relationships/slideMaster" Target="/ppt/slideMasters/slideMaster1.xml" Id="R16243888f9124d7c" /><Relationship Type="http://schemas.openxmlformats.org/officeDocument/2006/relationships/notesMaster" Target="/ppt/notesMasters/notesMaster1.xml" Id="R6bab963a918a4716" /><Relationship Type="http://schemas.openxmlformats.org/officeDocument/2006/relationships/presProps" Target="/ppt/presProps.xml" Id="R629adfa865234115" /><Relationship Type="http://schemas.openxmlformats.org/officeDocument/2006/relationships/tableStyles" Target="/ppt/tableStyles.xml" Id="R3fbcaad66f3b456e" /><Relationship Type="http://schemas.openxmlformats.org/officeDocument/2006/relationships/slide" Target="/ppt/slides/slide1.xml" Id="Rcb5dee83c81c4c57" /><Relationship Type="http://schemas.openxmlformats.org/officeDocument/2006/relationships/slide" Target="/ppt/slides/slide2.xml" Id="R9e9e672d0cc84cef" /><Relationship Type="http://schemas.openxmlformats.org/officeDocument/2006/relationships/slide" Target="/ppt/slides/slide3.xml" Id="Rd14b9634bb7e48f7" /><Relationship Type="http://schemas.openxmlformats.org/officeDocument/2006/relationships/slide" Target="/ppt/slides/slide4.xml" Id="R124ae98286784dec" /><Relationship Type="http://schemas.openxmlformats.org/officeDocument/2006/relationships/slide" Target="/ppt/slides/slide5.xml" Id="R615f100bcb3d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1a4733433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61375b02f4b28" /><Relationship Type="http://schemas.openxmlformats.org/officeDocument/2006/relationships/notesMaster" Target="/ppt/notesMasters/notesMaster1.xml" Id="R061031fcde0e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a280196834660" /><Relationship Type="http://schemas.openxmlformats.org/officeDocument/2006/relationships/notesMaster" Target="/ppt/notesMasters/notesMaster1.xml" Id="R0e1bd699f8d7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6df106772440a1" /><Relationship Type="http://schemas.openxmlformats.org/officeDocument/2006/relationships/notesMaster" Target="/ppt/notesMasters/notesMaster1.xml" Id="R084dd9944b0f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40faaadd8f4f2d" /><Relationship Type="http://schemas.openxmlformats.org/officeDocument/2006/relationships/notesMaster" Target="/ppt/notesMasters/notesMaster1.xml" Id="R2660929bedd1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11ad73f7464d70" /><Relationship Type="http://schemas.openxmlformats.org/officeDocument/2006/relationships/notesMaster" Target="/ppt/notesMasters/notesMaster1.xml" Id="R94e9230f421a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trending_by_time.csv. Período observado: 14/11/2017 a 14/06/2018.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público: https://public.tableau.com/app/profile/denise.duarte2886/viz/DashboarddeTendnciasdoYouTube_17914333984600/DashboarddetendnciasdoYouTube</a:t>
            </a:r>
          </a:p>
          <a:p xmlns:a="http://schemas.openxmlformats.org/drawingml/2006/main">
            <a:r>
              <a:t>Fonte: trending_by_time.csv.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trending_by_time.csv. Soma de videos_count por category_title. Total geral: 339.990.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trending_by_time.csv. Participação calculada pela soma de videos_count em cada região dividida pelo total geral. Os dados do Japão começam em 07/02/2018; no período comum a todas as regiões, sua participação fica próxima de 17%.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trending_by_time.csv. Percentuais calculados dentro de cada grupo: Estados Unidos e demais regiões. Dashboard: https://public.tableau.com/app/profile/denise.duarte2886/viz/DashboarddeTendnciasdoYouTube_17914333984600/DashboarddetendnciasdoYouTube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8f72d2d904b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117b687e546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0045c396541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6c1522f4d44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1c2f766c946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c77bfdacd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F9476C-3196-4AEF-9EBA-F768BFF33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1CDE58-9593-4697-82B9-6435F1BD5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E23A77-5CBD-48DD-8B77-A25035761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838E2B-C490-487C-BFBD-554941E2B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BD16EB-703F-4E70-BCF3-B50DF6F2F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9522A2-A624-4200-A510-DC501FF33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920C64-FEE6-4A8D-BF83-6C88B87B3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D42CE2-B345-4878-A5ED-116327DBE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DF5A89-3EBC-460A-8C6F-B986619CB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C6A07C-DF24-473C-B497-2AC722147A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110dac6ae4d32" /><Relationship Type="http://schemas.openxmlformats.org/officeDocument/2006/relationships/slideLayout" Target="/ppt/slideLayouts/slideLayout1.xml" Id="R225271e8582647b8" /><Relationship Type="http://schemas.openxmlformats.org/officeDocument/2006/relationships/slideLayout" Target="/ppt/slideLayouts/slideLayout2.xml" Id="R9f18516988084ec6" /><Relationship Type="http://schemas.openxmlformats.org/officeDocument/2006/relationships/slideLayout" Target="/ppt/slideLayouts/slideLayout3.xml" Id="Rd8e7e55c4dea4b73" /><Relationship Type="http://schemas.openxmlformats.org/officeDocument/2006/relationships/slideLayout" Target="/ppt/slideLayouts/slideLayout4.xml" Id="R9234de9797ce4ea0" /><Relationship Type="http://schemas.openxmlformats.org/officeDocument/2006/relationships/slideLayout" Target="/ppt/slideLayouts/slideLayout5.xml" Id="R0bbccecf30fa475f" /><Relationship Type="http://schemas.openxmlformats.org/officeDocument/2006/relationships/slideLayout" Target="/ppt/slideLayouts/slideLayout6.xml" Id="R54dafb09822a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271e8582647b8"/>
    <p:sldLayoutId xmlns:r="http://schemas.openxmlformats.org/officeDocument/2006/relationships" id="2147483650" r:id="R9f18516988084ec6"/>
    <p:sldLayoutId xmlns:r="http://schemas.openxmlformats.org/officeDocument/2006/relationships" id="2147483651" r:id="Rd8e7e55c4dea4b73"/>
    <p:sldLayoutId xmlns:r="http://schemas.openxmlformats.org/officeDocument/2006/relationships" id="2147483652" r:id="R9234de9797ce4ea0"/>
    <p:sldLayoutId xmlns:r="http://schemas.openxmlformats.org/officeDocument/2006/relationships" id="2147483653" r:id="R0bbccecf30fa475f"/>
    <p:sldLayoutId xmlns:r="http://schemas.openxmlformats.org/officeDocument/2006/relationships" id="2147483654" r:id="R54dafb09822a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ff78ab4de4f1e" /><Relationship Type="http://schemas.openxmlformats.org/officeDocument/2006/relationships/notesSlide" Target="/ppt/notesSlides/notesSlide1.xml" Id="R9375a6cef18f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1b9b3bb9c400a" /><Relationship Type="http://schemas.openxmlformats.org/officeDocument/2006/relationships/notesSlide" Target="/ppt/notesSlides/notesSlide2.xml" Id="R76ae8b0fee11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bf3d0122440fd" /><Relationship Type="http://schemas.openxmlformats.org/officeDocument/2006/relationships/chart" Target="/ppt/slides/charts/chart1.xml" Id="R30210feb951648a5" /><Relationship Type="http://schemas.openxmlformats.org/officeDocument/2006/relationships/notesSlide" Target="/ppt/notesSlides/notesSlide3.xml" Id="R45ad6c6728984c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293e46ed14b4c" /><Relationship Type="http://schemas.openxmlformats.org/officeDocument/2006/relationships/chart" Target="/ppt/slides/charts/chart2.xml" Id="R3fd0024c9a904ed2" /><Relationship Type="http://schemas.openxmlformats.org/officeDocument/2006/relationships/notesSlide" Target="/ppt/notesSlides/notesSlide4.xml" Id="R3acb9196424a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d83107e604999" /><Relationship Type="http://schemas.openxmlformats.org/officeDocument/2006/relationships/chart" Target="/ppt/slides/charts/chart3.xml" Id="Re35151f6f6f8422f" /><Relationship Type="http://schemas.openxmlformats.org/officeDocument/2006/relationships/notesSlide" Target="/ppt/notesSlides/notesSlide5.xml" Id="R161607fcd5674c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Vídeos</c:v>
          </c:tx>
          <c:spPr>
            <a:solidFill xmlns:a="http://schemas.openxmlformats.org/drawingml/2006/main">
              <a:srgbClr val="B85C6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CBD9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FC66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C3D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7DDE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7CECA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FB3B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F4A6A8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18A8D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Film &amp; Animation</c:v>
                </c:pt>
                <c:pt idx="1">
                  <c:v>Howto &amp; Style</c:v>
                </c:pt>
                <c:pt idx="2">
                  <c:v>Sports</c:v>
                </c:pt>
                <c:pt idx="3">
                  <c:v>Comedy</c:v>
                </c:pt>
                <c:pt idx="4">
                  <c:v>News &amp; Politics</c:v>
                </c:pt>
                <c:pt idx="5">
                  <c:v>Music</c:v>
                </c:pt>
                <c:pt idx="6">
                  <c:v>People &amp; Blogs</c:v>
                </c:pt>
                <c:pt idx="7">
                  <c:v>Entertainment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19562</c:v>
                </c:pt>
                <c:pt idx="1">
                  <c:v>20124</c:v>
                </c:pt>
                <c:pt idx="2">
                  <c:v>20966</c:v>
                </c:pt>
                <c:pt idx="3">
                  <c:v>29470</c:v>
                </c:pt>
                <c:pt idx="4">
                  <c:v>34202</c:v>
                </c:pt>
                <c:pt idx="5">
                  <c:v>34390</c:v>
                </c:pt>
                <c:pt idx="6">
                  <c:v>44700</c:v>
                </c:pt>
                <c:pt idx="7">
                  <c:v>95008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D374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00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Participação</c:v>
          </c:tx>
          <c:spPr>
            <a:solidFill xmlns:a="http://schemas.openxmlformats.org/drawingml/2006/main">
              <a:srgbClr val="C97C5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4A66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97C5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A556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85C6B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22F37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Japão</c:v>
                </c:pt>
                <c:pt idx="1">
                  <c:v>Índia</c:v>
                </c:pt>
                <c:pt idx="2">
                  <c:v>Rússia</c:v>
                </c:pt>
                <c:pt idx="3">
                  <c:v>França</c:v>
                </c:pt>
                <c:pt idx="4">
                  <c:v>Estados Unidos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0.1081267</c:v>
                </c:pt>
                <c:pt idx="1">
                  <c:v>0.2158063</c:v>
                </c:pt>
                <c:pt idx="2">
                  <c:v>0.2167534</c:v>
                </c:pt>
                <c:pt idx="3">
                  <c:v>0.221783</c:v>
                </c:pt>
                <c:pt idx="4">
                  <c:v>0.2375305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D374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Estados Unidos</c:v>
          </c:tx>
          <c:spPr>
            <a:solidFill xmlns:a="http://schemas.openxmlformats.org/drawingml/2006/main">
              <a:srgbClr val="722F37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Entertainment</c:v>
                </c:pt>
                <c:pt idx="1">
                  <c:v>News &amp; Politics</c:v>
                </c:pt>
                <c:pt idx="2">
                  <c:v>People &amp; Blogs</c:v>
                </c:pt>
                <c:pt idx="3">
                  <c:v>Science &amp; Technology</c:v>
                </c:pt>
                <c:pt idx="4">
                  <c:v>Howto &amp; Style</c:v>
                </c:pt>
                <c:pt idx="5">
                  <c:v>Music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0.243171</c:v>
                </c:pt>
                <c:pt idx="1">
                  <c:v>0.0596597</c:v>
                </c:pt>
                <c:pt idx="2">
                  <c:v>0.0758067</c:v>
                </c:pt>
                <c:pt idx="3">
                  <c:v>0.058471</c:v>
                </c:pt>
                <c:pt idx="4">
                  <c:v>0.1025285</c:v>
                </c:pt>
                <c:pt idx="5">
                  <c:v>0.1594145</c:v>
                </c:pt>
              </c:numCache>
            </c:numRef>
          </c:val>
        </c:ser>
        <c:ser>
          <c:idx val="1"/>
          <c:order val="1"/>
          <c:tx>
            <c:v>Demais regiões</c:v>
          </c:tx>
          <c:spPr>
            <a:solidFill xmlns:a="http://schemas.openxmlformats.org/drawingml/2006/main">
              <a:srgbClr val="B85C6B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Entertainment</c:v>
                </c:pt>
                <c:pt idx="1">
                  <c:v>News &amp; Politics</c:v>
                </c:pt>
                <c:pt idx="2">
                  <c:v>People &amp; Blogs</c:v>
                </c:pt>
                <c:pt idx="3">
                  <c:v>Science &amp; Technology</c:v>
                </c:pt>
                <c:pt idx="4">
                  <c:v>Howto &amp; Style</c:v>
                </c:pt>
                <c:pt idx="5">
                  <c:v>Music</c:v>
                </c:pt>
              </c:strCache>
            </c:strRef>
          </c:cat>
          <c:val>
            <c:numRef>
              <c:f>'Chart Data'!$D$2:$D$7</c:f>
              <c:numCache>
                <c:formatCode>0.0%</c:formatCode>
                <c:ptCount val="6"/>
                <c:pt idx="0">
                  <c:v>0.2907434</c:v>
                </c:pt>
                <c:pt idx="1">
                  <c:v>0.1133502</c:v>
                </c:pt>
                <c:pt idx="2">
                  <c:v>0.1488165</c:v>
                </c:pt>
                <c:pt idx="3">
                  <c:v>0.0200978</c:v>
                </c:pt>
                <c:pt idx="4">
                  <c:v>0.0456888</c:v>
                </c:pt>
                <c:pt idx="5">
                  <c:v>0.082999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D374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D3748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22F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647CE-2CB4-4A8E-8E2A-19BED29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Tendências do YouTube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225DA-EF2A-4575-BBC6-103E575D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7DD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DDE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7DDE1"/>
                </a:solidFill>
                <a:latin typeface="DejaVu Sans"/>
                <a:ea typeface="DejaVu Sans"/>
                <a:cs typeface="DejaVu Sans"/>
              </a:rPr>
              <a:t>Análise de categorias e diferenças regionais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49867-E284-48BD-83A2-5D83E68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Sterling &amp; Draper  |  14 nov. 2017 a 14 jun. 2018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E2828-E6FD-4249-AD89-E379410B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Denise Duarte</a:t>
            </a:r>
          </a:p>
        </p:txBody>
      </p:sp>
    </p:spTree>
    <p:extLst>
      <p:ext uri="{BB962C8B-B14F-4D97-AF65-F5344CB8AC3E}">
        <p14:creationId xmlns:p14="http://schemas.microsoft.com/office/powerpoint/2010/main" val="1667138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8820D-0452-418A-9634-44926F00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Dashboard e escopo da análise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90BBE-CE57-4456-8A06-85FAA94B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037DE-B777-4E35-BA13-D82C8691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339.990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97B6D-6930-47D3-A401-7C149D1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vídeos contabilizados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E484A-44A8-4287-A767-16B7CA8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811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4A5568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DEF91-F45E-407D-A0BE-C69FBB7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regiões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091F6-273A-4894-8A58-7B82DB0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C97C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C97C5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C97C5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506AB-C730-47F8-954C-C6AC27A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categorias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D6E99-684D-4FA1-B2D6-9F70AD8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BC045-B631-4DDF-8204-D072FD21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Apoiar o planejamento de anúncios com uma visão diária das categorias e regiões em tendência.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5962-8707-4F4C-BD08-1BC6DB1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Período analisado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EE2FF-19C9-4BE3-B8DE-D43B95E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14 de novembro de 2017 a 14 de junho de 2018.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B2BB6-F33B-4D71-B081-5761AF89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Controles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3EA13-8C6A-4CFE-99D3-26FD1B4B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Os filtros de data e região atualizam todos os gráficos do dashboard.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ABC28-AD7D-43B7-A9DA-C450328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A5568"/>
                </a:solidFill>
                <a:latin typeface="DejaVu Sans"/>
                <a:ea typeface="DejaVu Sans"/>
                <a:cs typeface="DejaVu Sans"/>
              </a:rPr>
              <a:t>Dashboard publicado no Tableau Public</a:t>
            </a:r>
          </a:p>
        </p:txBody>
      </p:sp>
    </p:spTree>
    <p:extLst>
      <p:ext uri="{BB962C8B-B14F-4D97-AF65-F5344CB8AC3E}">
        <p14:creationId xmlns:p14="http://schemas.microsoft.com/office/powerpoint/2010/main" val="1914768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FB13B-528A-437B-8BFA-33B888E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Entretenimento concentra 27,9% das tendências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9BD8C-0EE4-429A-BCD4-5DA6A4D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F45A2FE-948F-4190-AF7B-1A1E7B991A07}"/>
              </a:ext>
            </a:extLst>
          </p:cNvPr>
          <p:cNvGraphicFramePr/>
          <p:nvPr/>
        </p:nvGraphicFramePr>
        <p:xfrm>
          <a:off xmlns:a="http://schemas.openxmlformats.org/drawingml/2006/main" x="781050" y="1257300"/>
          <a:ext xmlns:a="http://schemas.openxmlformats.org/drawingml/2006/main" cx="704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10feb951648a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F2417-D6F1-4162-9EBF-E9573BF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95.008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FD83-D122-4FEF-9534-C2016AF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registros de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A3E3B-222B-4140-B2FB-E5EB24C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People &amp; Blogs ocupa o segundo lugar, mas registra menos da metade do volume de Entertainment.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44288-6475-4700-9D25-8509E76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Prioridade comercial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5E63-BF52-434A-B67F-7F0C59E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29"/>
          </a:bodyPr>
          <a:lstStyle xmlns:a="http://schemas.openxmlformats.org/drawingml/2006/main">
            <a:defPPr algn="l">
              <a:defRPr sz="127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Planejar campanhas em Entertainment e complementar a cobertura conforme o perfil regional.</a:t>
            </a:r>
          </a:p>
        </p:txBody>
      </p:sp>
    </p:spTree>
    <p:extLst>
      <p:ext uri="{BB962C8B-B14F-4D97-AF65-F5344CB8AC3E}">
        <p14:creationId xmlns:p14="http://schemas.microsoft.com/office/powerpoint/2010/main" val="870403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2B677-7D22-4BFB-AFCF-1E8EE5A0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Estados Unidos lideram com 23,8% dos registros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6E711-A408-4CA2-8DEF-AFB833D0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4FAD07E-9266-4097-81D9-4620E669422A}"/>
              </a:ext>
            </a:extLst>
          </p:cNvPr>
          <p:cNvGraphicFramePr/>
          <p:nvPr/>
        </p:nvGraphicFramePr>
        <p:xfrm>
          <a:off xmlns:a="http://schemas.openxmlformats.org/drawingml/2006/main" x="857250" y="1381125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d0024c9a904ed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9EFBA-8831-4738-B3ED-20D1AEA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83"/>
          </a:bodyPr>
          <a:lstStyle xmlns:a="http://schemas.openxmlformats.org/drawingml/2006/main">
            <a:def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Quatro mercados próximos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9A3D-FC98-471C-B512-786D9FF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Estados Unidos, França, Rússia e Índia representam entre 21,6% e 23,8% cada.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9E95-415C-4ADF-9964-D4A8D492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70"/>
          </a:bodyPr>
          <a:lstStyle xmlns:a="http://schemas.openxmlformats.org/drawingml/2006/main">
            <a:defPPr algn="l">
              <a:defRPr sz="16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Janela menor no Japão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5D3A4-99DC-4CB1-B350-7B3BDB1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Os dados do Japão começam em 07/02/2018. Isso reduz sua participação no período total para 10,8%. No período comum, ela se aproxima de 17%.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C018B-3C8F-42E4-9F20-65C3333B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A5568"/>
                </a:solidFill>
                <a:latin typeface="DejaVu Sans"/>
                <a:ea typeface="DejaVu Sans"/>
                <a:cs typeface="DejaVu Sans"/>
              </a:rPr>
              <a:t>A distribuição regional equilibrada favorece planos globais com ajustes locais de categoria.</a:t>
            </a:r>
          </a:p>
        </p:txBody>
      </p:sp>
    </p:spTree>
    <p:extLst>
      <p:ext uri="{BB962C8B-B14F-4D97-AF65-F5344CB8AC3E}">
        <p14:creationId xmlns:p14="http://schemas.microsoft.com/office/powerpoint/2010/main" val="2009166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7846D-717C-47AE-88A9-61FC7E48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Categorias que se destacam nos Estados Unidos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89769-4AFE-42AB-9C75-311BBFD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1809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C3ADF6F-3D64-498D-9631-B62D13F331EC}"/>
              </a:ext>
            </a:extLst>
          </p:cNvPr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5151f6f6f8422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A52AF-81BE-4731-A0F1-27A7709F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+7,6 p.p.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CB826-BAF2-4FC5-ABBE-F25AA2C6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Música nos EUA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25D1B-CB7A-45AD-AD36-A38FC9D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241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C97C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C97C5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97C5D"/>
                </a:solidFill>
                <a:latin typeface="DejaVu Sans"/>
                <a:ea typeface="DejaVu Sans"/>
                <a:cs typeface="DejaVu Sans"/>
              </a:rPr>
              <a:t>+5,7 p.p.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D62DA-CDD5-415A-BD61-7F1A8F8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Howto &amp; Style nos EUA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5FE1-E3B9-4F7E-A36A-044C7655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22F3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722F37"/>
                </a:solidFill>
                <a:latin typeface="DejaVu Sans"/>
                <a:ea typeface="DejaVu Sans"/>
                <a:cs typeface="DejaVu Sans"/>
              </a:rPr>
              <a:t>Leitura de negócio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BA603-B698-4299-B932-EF597E5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D3748"/>
                </a:solidFill>
                <a:latin typeface="DejaVu Sans"/>
                <a:ea typeface="DejaVu Sans"/>
                <a:cs typeface="DejaVu Sans"/>
              </a:rPr>
              <a:t>Nos EUA, campanhas podem priorizar Música, tutoriais e tecnologia. Em outros mercados, People &amp; Blogs e News &amp; Politics têm maior peso relativo.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174C5-5502-4E77-A606-93CD917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4A556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A5568"/>
                </a:solidFill>
                <a:latin typeface="DejaVu Sans"/>
                <a:ea typeface="DejaVu Sans"/>
                <a:cs typeface="DejaVu Sans"/>
              </a:rPr>
              <a:t>Entertainment lidera em ambos os grupos, embora tenha maior participação fora dos EUA.</a:t>
            </a:r>
          </a:p>
        </p:txBody>
      </p:sp>
    </p:spTree>
    <p:extLst>
      <p:ext uri="{BB962C8B-B14F-4D97-AF65-F5344CB8AC3E}">
        <p14:creationId xmlns:p14="http://schemas.microsoft.com/office/powerpoint/2010/main" val="1189774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2026-10-13T12:54:09.4600000Z</dcterms:created>
  <dcterms:modified xsi:type="dcterms:W3CDTF">2026-10-13T12:54:09.4600000Z</dcterms:modified>
</coreProperties>
</file>